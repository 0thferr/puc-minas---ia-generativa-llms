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solidFill>
              <a:srgbClr val="0A1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18120" y="0"/>
            <a:ext cx="4370832" cy="73152"/>
          </a:xfrm>
          <a:prstGeom prst="roundRect">
            <a:avLst>
              <a:gd name="adj" fmla="val 12000"/>
            </a:avLst>
          </a:prstGeom>
          <a:solidFill>
            <a:srgbClr val="36D3DA"/>
          </a:solidFill>
          <a:ln>
            <a:solidFill>
              <a:srgbClr val="36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58200" y="0"/>
            <a:ext cx="73152" cy="6858000"/>
          </a:xfrm>
          <a:prstGeom prst="roundRect">
            <a:avLst>
              <a:gd name="adj" fmla="val 12000"/>
            </a:avLst>
          </a:prstGeom>
          <a:solidFill>
            <a:srgbClr val="497EFF"/>
          </a:solidFill>
          <a:ln>
            <a:solidFill>
              <a:srgbClr val="49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38360" y="1051560"/>
            <a:ext cx="1691640" cy="1691640"/>
          </a:xfrm>
          <a:prstGeom prst="roundRect">
            <a:avLst>
              <a:gd name="adj" fmla="val 12000"/>
            </a:avLst>
          </a:prstGeom>
          <a:solidFill>
            <a:srgbClr val="19263D"/>
          </a:solidFill>
          <a:ln>
            <a:solidFill>
              <a:srgbClr val="19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43800" y="443484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24160" y="3794760"/>
            <a:ext cx="1051560" cy="1828800"/>
          </a:xfrm>
          <a:prstGeom prst="roundRect">
            <a:avLst>
              <a:gd name="adj" fmla="val 12000"/>
            </a:avLst>
          </a:prstGeom>
          <a:solidFill>
            <a:srgbClr val="19263D"/>
          </a:solidFill>
          <a:ln>
            <a:solidFill>
              <a:srgbClr val="19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6D3DA"/>
                </a:solidFill>
                <a:latin typeface="Aptos"/>
              </a:rPr>
              <a:t>TRABALHO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685800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F5F8FC"/>
                </a:solidFill>
                <a:latin typeface="Aptos"/>
              </a:rPr>
              <a:t>Copiloto Inteligente
Corporativo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63240"/>
            <a:ext cx="6217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A6B4C9"/>
                </a:solidFill>
                <a:latin typeface="Aptos"/>
              </a:rPr>
              <a:t>Entrega final • Apoio à política-piloto de trabalho híbrido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675887"/>
            <a:ext cx="6217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Do estudo de modelos ao protótipo multimodal auditável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617720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681728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20 casos versionados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4368" y="4617720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4681728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Evidência local +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6144768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A6B4C9"/>
                </a:solidFill>
                <a:latin typeface="Aptos"/>
              </a:rPr>
              <a:t>AURORA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144768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6B4C9"/>
                </a:solidFill>
                <a:latin typeface="Aptos"/>
              </a:rPr>
              <a:t>v1.0-final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DA"/>
                </a:solidFill>
                <a:latin typeface="Aptos"/>
              </a:rPr>
              <a:t>LINHA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Evolução T1 → T5 → T6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36D3DA"/>
          </a:solidFill>
          <a:ln>
            <a:solidFill>
              <a:srgbClr val="36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673352" cy="33375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50292" cy="3337560"/>
          </a:xfrm>
          <a:prstGeom prst="rect">
            <a:avLst/>
          </a:prstGeom>
          <a:solidFill>
            <a:srgbClr val="497EFF"/>
          </a:solidFill>
          <a:ln>
            <a:solidFill>
              <a:srgbClr val="49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75104"/>
            <a:ext cx="128930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T1  •  Modelos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77440"/>
            <a:ext cx="1289304" cy="267919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Claude Sonnet 5
Grok 4.5
Gemini 3.1 Pro Preview.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358384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497EFF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1828800"/>
            <a:ext cx="1673352" cy="33375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96312" y="1828800"/>
            <a:ext cx="50292" cy="3337560"/>
          </a:xfrm>
          <a:prstGeom prst="rect">
            <a:avLst/>
          </a:prstGeom>
          <a:solidFill>
            <a:srgbClr val="A06FFF"/>
          </a:solidFill>
          <a:ln>
            <a:solidFill>
              <a:srgbClr val="A0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975104"/>
            <a:ext cx="128930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T2  •  Caso de 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377440"/>
            <a:ext cx="1289304" cy="267919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Tarefas, limites,
baseline e 7 testes.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5358384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A06FFF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8264" y="1828800"/>
            <a:ext cx="1673352" cy="33375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1828800"/>
            <a:ext cx="50292" cy="3337560"/>
          </a:xfrm>
          <a:prstGeom prst="rect">
            <a:avLst/>
          </a:prstGeom>
          <a:solidFill>
            <a:srgbClr val="36D3DA"/>
          </a:solidFill>
          <a:ln>
            <a:solidFill>
              <a:srgbClr val="36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975104"/>
            <a:ext cx="128930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T3  •  Prompts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377440"/>
            <a:ext cx="1289304" cy="267919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Biblioteca versionada
de prompts.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5358384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36D3DA"/>
                </a:solidFill>
                <a:latin typeface="Aptos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0216" y="1828800"/>
            <a:ext cx="1673352" cy="33375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216" y="1828800"/>
            <a:ext cx="50292" cy="3337560"/>
          </a:xfrm>
          <a:prstGeom prst="rect">
            <a:avLst/>
          </a:prstGeom>
          <a:solidFill>
            <a:srgbClr val="37C989"/>
          </a:solidFill>
          <a:ln>
            <a:solidFill>
              <a:srgbClr val="37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1975104"/>
            <a:ext cx="128930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T4  •  Fluxo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377440"/>
            <a:ext cx="1289304" cy="267919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Validação, retry,
fallback e 13 casos.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5358384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37C989"/>
                </a:solidFill>
                <a:latin typeface="Aptos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02168" y="1828800"/>
            <a:ext cx="1673352" cy="33375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02168" y="1828800"/>
            <a:ext cx="50292" cy="3337560"/>
          </a:xfrm>
          <a:prstGeom prst="rect">
            <a:avLst/>
          </a:prstGeom>
          <a:solidFill>
            <a:srgbClr val="F6BE43"/>
          </a:solidFill>
          <a:ln>
            <a:solidFill>
              <a:srgbClr val="F6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3336" y="1975104"/>
            <a:ext cx="128930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T5  •  Multimodal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2377440"/>
            <a:ext cx="1289304" cy="267919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PDF/TXT/imagem,
OCR, TF-IDF/RAG e 20 casos.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5358384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6BE43"/>
                </a:solidFill>
                <a:latin typeface="Aptos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1828800"/>
            <a:ext cx="1673352" cy="33375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04120" y="1828800"/>
            <a:ext cx="50292" cy="3337560"/>
          </a:xfrm>
          <a:prstGeom prst="rect">
            <a:avLst/>
          </a:prstGeom>
          <a:solidFill>
            <a:srgbClr val="EF6464"/>
          </a:solidFill>
          <a:ln>
            <a:solidFill>
              <a:srgbClr val="E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05288" y="1975104"/>
            <a:ext cx="128930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T6  •  Entrega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05288" y="2377440"/>
            <a:ext cx="1289304" cy="267919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Manifesto, arquitetura,
avaliação, riscos e demo.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05288" y="5358384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F6464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897880"/>
            <a:ext cx="9601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6B4C9"/>
                </a:solidFill>
                <a:latin typeface="Aptos"/>
              </a:rPr>
              <a:t>Cada etapa adiciona capacidade, controle ou evidência à solução.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6B4C9"/>
                </a:solidFill>
                <a:latin typeface="Aptos"/>
              </a:rPr>
              <a:t>AURORA TECH  •  TRABALHO 6  •  v1.0-final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6B4C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DA"/>
                </a:solidFill>
                <a:latin typeface="Aptos"/>
              </a:rPr>
              <a:t>FLUXO MULTIMODAL AUDITÁVEL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Arquitetura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36D3DA"/>
          </a:solidFill>
          <a:ln>
            <a:solidFill>
              <a:srgbClr val="36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1325880" cy="96012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50292" cy="960120"/>
          </a:xfrm>
          <a:prstGeom prst="rect">
            <a:avLst/>
          </a:prstGeom>
          <a:solidFill>
            <a:srgbClr val="497EFF"/>
          </a:solidFill>
          <a:ln>
            <a:solidFill>
              <a:srgbClr val="49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9968"/>
            <a:ext cx="1115568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7672" y="2176272"/>
            <a:ext cx="25603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6B4C9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920240"/>
            <a:ext cx="1417320" cy="96012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1920240"/>
            <a:ext cx="50292" cy="960120"/>
          </a:xfrm>
          <a:prstGeom prst="rect">
            <a:avLst/>
          </a:prstGeom>
          <a:solidFill>
            <a:srgbClr val="36D3DA"/>
          </a:solidFill>
          <a:ln>
            <a:solidFill>
              <a:srgbClr val="36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1991" y="2029968"/>
            <a:ext cx="1207008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1" y="2176272"/>
            <a:ext cx="25603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6B4C9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920240"/>
            <a:ext cx="1600200" cy="96012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1920240"/>
            <a:ext cx="50292" cy="960120"/>
          </a:xfrm>
          <a:prstGeom prst="rect">
            <a:avLst/>
          </a:prstGeom>
          <a:solidFill>
            <a:srgbClr val="A06FFF"/>
          </a:solidFill>
          <a:ln>
            <a:solidFill>
              <a:srgbClr val="A0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1" y="2029968"/>
            <a:ext cx="1389888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Extração / 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176272"/>
            <a:ext cx="25603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6B4C9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1920240"/>
            <a:ext cx="1600200" cy="96012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1920240"/>
            <a:ext cx="50292" cy="960120"/>
          </a:xfrm>
          <a:prstGeom prst="rect">
            <a:avLst/>
          </a:prstGeom>
          <a:solidFill>
            <a:srgbClr val="F6BE43"/>
          </a:solidFill>
          <a:ln>
            <a:solidFill>
              <a:srgbClr val="F6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5272" y="2029968"/>
            <a:ext cx="1389888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RAG / TF-IDF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176272"/>
            <a:ext cx="25603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6B4C9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20240"/>
            <a:ext cx="1325880" cy="96012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1920240"/>
            <a:ext cx="50292" cy="960120"/>
          </a:xfrm>
          <a:prstGeom prst="rect">
            <a:avLst/>
          </a:prstGeom>
          <a:solidFill>
            <a:srgbClr val="37C989"/>
          </a:solidFill>
          <a:ln>
            <a:solidFill>
              <a:srgbClr val="37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2029968"/>
            <a:ext cx="1115568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Triagem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176272"/>
            <a:ext cx="25603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6B4C9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192024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1920240"/>
            <a:ext cx="50292" cy="960120"/>
          </a:xfrm>
          <a:prstGeom prst="rect">
            <a:avLst/>
          </a:prstGeom>
          <a:solidFill>
            <a:srgbClr val="497EFF"/>
          </a:solidFill>
          <a:ln>
            <a:solidFill>
              <a:srgbClr val="49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7112" y="2029968"/>
            <a:ext cx="1527048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Especialista
TRH-01/02/03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3032" y="2176272"/>
            <a:ext cx="25603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6B4C9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98480" y="1920240"/>
            <a:ext cx="914400" cy="96012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98480" y="1920240"/>
            <a:ext cx="50292" cy="960120"/>
          </a:xfrm>
          <a:prstGeom prst="rect">
            <a:avLst/>
          </a:prstGeom>
          <a:solidFill>
            <a:srgbClr val="36D3DA"/>
          </a:solidFill>
          <a:ln>
            <a:solidFill>
              <a:srgbClr val="36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17352" y="2029968"/>
            <a:ext cx="704088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Validação +
retry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338328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19263D"/>
          </a:solidFill>
          <a:ln>
            <a:solidFill>
              <a:srgbClr val="19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3529584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Resposta / 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904487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Saída controlada e rastreável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3703320"/>
            <a:ext cx="8001000" cy="15087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88620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6D3DA"/>
                </a:solidFill>
                <a:latin typeface="Aptos"/>
              </a:rPr>
              <a:t>Controles de segurança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315968"/>
            <a:ext cx="73152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4C9"/>
                </a:solidFill>
                <a:latin typeface="Aptos"/>
              </a:rPr>
              <a:t>Arquivo = dado não confiável  •  sem PII  •  sem aprovação de exceções
logs + evidências  •  revisão humana para decisões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6B4C9"/>
                </a:solidFill>
                <a:latin typeface="Aptos"/>
              </a:rPr>
              <a:t>AURORA TECH  •  TRABALHO 6  •  v1.0-final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6B4C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DA"/>
                </a:solidFill>
                <a:latin typeface="Aptos"/>
              </a:rPr>
              <a:t>EVIDÊNCIA DE EXECUÇÃO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20 casos e resultados locais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36D3DA"/>
          </a:solidFill>
          <a:ln>
            <a:solidFill>
              <a:srgbClr val="36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1325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37C989"/>
                </a:solidFill>
                <a:latin typeface="Aptos"/>
              </a:rPr>
              <a:t>20/20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57400"/>
            <a:ext cx="1600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casos aceitos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93392"/>
            <a:ext cx="1325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36D3DA"/>
                </a:solidFill>
                <a:latin typeface="Aptos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057400"/>
            <a:ext cx="1600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contrato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82880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93392"/>
            <a:ext cx="1325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497EFF"/>
                </a:solidFill>
                <a:latin typeface="Aptos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057400"/>
            <a:ext cx="1600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fonte em M1–M3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2900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93592"/>
            <a:ext cx="1325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A06FFF"/>
                </a:solidFill>
                <a:latin typeface="Aptos"/>
              </a:rPr>
              <a:t>140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657600"/>
            <a:ext cx="1600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p95 local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2900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593592"/>
            <a:ext cx="1325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6BE43"/>
                </a:solidFill>
                <a:latin typeface="Aptos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657600"/>
            <a:ext cx="1600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adversariais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42900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593592"/>
            <a:ext cx="1325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37C989"/>
                </a:solidFill>
                <a:latin typeface="Aptos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657600"/>
            <a:ext cx="1600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eliminatórios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257800"/>
            <a:ext cx="10881360" cy="640080"/>
          </a:xfrm>
          <a:prstGeom prst="roundRect">
            <a:avLst>
              <a:gd name="adj" fmla="val 12000"/>
            </a:avLst>
          </a:prstGeom>
          <a:solidFill>
            <a:srgbClr val="19263D"/>
          </a:solidFill>
          <a:ln>
            <a:solidFill>
              <a:srgbClr val="19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04104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6BE43"/>
                </a:solidFill>
                <a:latin typeface="Aptos"/>
              </a:rPr>
              <a:t>Custo de LLM: ainda não medido.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6B4C9"/>
                </a:solidFill>
                <a:latin typeface="Aptos"/>
              </a:rPr>
              <a:t>AURORA TECH  •  TRABALHO 6  •  v1.0-final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6B4C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DA"/>
                </a:solidFill>
                <a:latin typeface="Aptos"/>
              </a:rPr>
              <a:t>ROTEIRO DE 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Seis cenas da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36D3DA"/>
          </a:solidFill>
          <a:ln>
            <a:solidFill>
              <a:srgbClr val="36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5257800" cy="109728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497E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2024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67712"/>
            <a:ext cx="40690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P1 — resposta objetiva + regra/próximo passo.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257800" cy="109728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A06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92024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Ambígua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267712"/>
            <a:ext cx="40690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A2 — não inferir elegibilidade.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00400"/>
            <a:ext cx="5257800" cy="109728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6D3DA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3756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Multimodal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85032"/>
            <a:ext cx="40690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M1/M3 — fonte recuperada.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00400"/>
            <a:ext cx="5257800" cy="109728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38328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6BE43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33756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Fora de escopo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85032"/>
            <a:ext cx="40690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O1/M7 — recusa e encaminhamento.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17720"/>
            <a:ext cx="5257800" cy="109728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EF6464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5488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Falha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102352"/>
            <a:ext cx="40690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E1/E2 — retry único + fallback.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617720"/>
            <a:ext cx="5257800" cy="109728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8006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7C989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75488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Revisão humana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5102352"/>
            <a:ext cx="40690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O1 — exceção depende de decisão humana.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6B4C9"/>
                </a:solidFill>
                <a:latin typeface="Aptos"/>
              </a:rPr>
              <a:t>AURORA TECH  •  TRABALHO 6  •  v1.0-final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6B4C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DA"/>
                </a:solidFill>
                <a:latin typeface="Aptos"/>
              </a:rPr>
              <a:t>VALIDAÇÃO ADICIONAL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Evidência empírica com LLM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36D3DA"/>
          </a:solidFill>
          <a:ln>
            <a:solidFill>
              <a:srgbClr val="36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834640" cy="356616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36D3DA"/>
                </a:solidFill>
                <a:latin typeface="Aptos"/>
              </a:rPr>
              <a:t>GPT-5.6 Luna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148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Execução real realizada nesta sessão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10312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4C9"/>
                </a:solidFill>
                <a:latin typeface="Aptos"/>
              </a:rPr>
              <a:t>20 casos avaliados
com contexto e regras da política.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828800"/>
            <a:ext cx="3611880" cy="160020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03320" y="1828800"/>
            <a:ext cx="50292" cy="1600200"/>
          </a:xfrm>
          <a:prstGeom prst="rect">
            <a:avLst/>
          </a:prstGeom>
          <a:solidFill>
            <a:srgbClr val="497EFF"/>
          </a:solidFill>
          <a:ln>
            <a:solidFill>
              <a:srgbClr val="49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7" y="1975104"/>
            <a:ext cx="32278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Comportamentos observados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2377440"/>
            <a:ext cx="3227832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4C9"/>
                </a:solidFill>
                <a:latin typeface="Aptos"/>
              </a:rPr>
              <a:t>Factualidade • limites de autoridade • ausência de evidência • recusa de PII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828800"/>
            <a:ext cx="3886200" cy="160020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1828800"/>
            <a:ext cx="50292" cy="1600200"/>
          </a:xfrm>
          <a:prstGeom prst="rect">
            <a:avLst/>
          </a:prstGeom>
          <a:solidFill>
            <a:srgbClr val="EF6464"/>
          </a:solidFill>
          <a:ln>
            <a:solidFill>
              <a:srgbClr val="E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8" y="1975104"/>
            <a:ext cx="3502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Robustez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2377440"/>
            <a:ext cx="3502152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4C9"/>
                </a:solidFill>
                <a:latin typeface="Aptos"/>
              </a:rPr>
              <a:t>Formato inválido • prompt injection • tratamento de casos adversariais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639312"/>
            <a:ext cx="3611880" cy="1755648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03320" y="3639312"/>
            <a:ext cx="50292" cy="1755648"/>
          </a:xfrm>
          <a:prstGeom prst="rect">
            <a:avLst/>
          </a:prstGeom>
          <a:solidFill>
            <a:srgbClr val="37C989"/>
          </a:solidFill>
          <a:ln>
            <a:solidFill>
              <a:srgbClr val="37C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04487" y="3785615"/>
            <a:ext cx="32278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Arquivo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4487" y="4187952"/>
            <a:ext cx="3227832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4C9"/>
                </a:solidFill>
                <a:latin typeface="Aptos"/>
              </a:rPr>
              <a:t>evidencia_empirica_llm.csv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3639312"/>
            <a:ext cx="3886200" cy="1755648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43800" y="3639312"/>
            <a:ext cx="50292" cy="1755648"/>
          </a:xfrm>
          <a:prstGeom prst="rect">
            <a:avLst/>
          </a:prstGeom>
          <a:solidFill>
            <a:srgbClr val="F6BE43"/>
          </a:solidFill>
          <a:ln>
            <a:solidFill>
              <a:srgbClr val="F6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4968" y="3785615"/>
            <a:ext cx="3502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Limite da evidência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4187952"/>
            <a:ext cx="3502152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4C9"/>
                </a:solidFill>
                <a:latin typeface="Aptos"/>
              </a:rPr>
              <a:t>Não é benchmark de Claude Sonnet 5 e não possui telemetria de custo/latência de API.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6B4C9"/>
                </a:solidFill>
                <a:latin typeface="Aptos"/>
              </a:rPr>
              <a:t>AURORA TECH  •  TRABALHO 6  •  v1.0-final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6B4C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DA"/>
                </a:solidFill>
                <a:latin typeface="Aptos"/>
              </a:rPr>
              <a:t>O QUE AINDA PRECISA DE 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Avaliação humana e riscos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36D3DA"/>
          </a:solidFill>
          <a:ln>
            <a:solidFill>
              <a:srgbClr val="36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50292" cy="1417320"/>
          </a:xfrm>
          <a:prstGeom prst="rect">
            <a:avLst/>
          </a:prstGeom>
          <a:solidFill>
            <a:srgbClr val="36D3DA"/>
          </a:solidFill>
          <a:ln>
            <a:solidFill>
              <a:srgbClr val="36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75104"/>
            <a:ext cx="47823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Rubrica humana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77440"/>
            <a:ext cx="4782312" cy="7589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4C9"/>
                </a:solidFill>
                <a:latin typeface="Aptos"/>
              </a:rPr>
              <a:t>10 casos × 2 avaliadores independentes.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56432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456432"/>
            <a:ext cx="50292" cy="1691640"/>
          </a:xfrm>
          <a:prstGeom prst="rect">
            <a:avLst/>
          </a:prstGeom>
          <a:solidFill>
            <a:srgbClr val="497EFF"/>
          </a:solidFill>
          <a:ln>
            <a:solidFill>
              <a:srgbClr val="49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602736"/>
            <a:ext cx="47823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Critérios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005072"/>
            <a:ext cx="4782312" cy="10332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Relevância • factualidade • completude • clareza • adequação • segurança • qualidade multimodal.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828800"/>
            <a:ext cx="5394960" cy="141732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828800"/>
            <a:ext cx="50292" cy="1417320"/>
          </a:xfrm>
          <a:prstGeom prst="rect">
            <a:avLst/>
          </a:prstGeom>
          <a:solidFill>
            <a:srgbClr val="F6BE43"/>
          </a:solidFill>
          <a:ln>
            <a:solidFill>
              <a:srgbClr val="F6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1975104"/>
            <a:ext cx="50109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2377440"/>
            <a:ext cx="5010912" cy="7589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4C9"/>
                </a:solidFill>
                <a:latin typeface="Aptos"/>
              </a:rPr>
              <a:t>Planilha pronta; notas permanecem em branco para não fabricar avaliação humana.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456432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456432"/>
            <a:ext cx="50292" cy="1691640"/>
          </a:xfrm>
          <a:prstGeom prst="rect">
            <a:avLst/>
          </a:prstGeom>
          <a:solidFill>
            <a:srgbClr val="EF6464"/>
          </a:solidFill>
          <a:ln>
            <a:solidFill>
              <a:srgbClr val="E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3602736"/>
            <a:ext cx="50109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Riscos + controles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4005072"/>
            <a:ext cx="5010912" cy="10332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6B4C9"/>
                </a:solidFill>
                <a:latin typeface="Aptos"/>
              </a:rPr>
              <a:t>Prompt injection, alucinação, OCR, PII, ação não autorizada, timeout e custo.
Controles: RAG, validação, recusa, retry único, fallback e revisão humana.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6B4C9"/>
                </a:solidFill>
                <a:latin typeface="Aptos"/>
              </a:rPr>
              <a:t>AURORA TECH  •  TRABALHO 6  •  v1.0-final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6B4C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DA"/>
                </a:solidFill>
                <a:latin typeface="Aptos"/>
              </a:rPr>
              <a:t>CONCLUSÃO DA 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Gate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36D3DA"/>
          </a:solidFill>
          <a:ln>
            <a:solidFill>
              <a:srgbClr val="36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0972800" cy="132588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5303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37C989"/>
                </a:solidFill>
                <a:latin typeface="Aptos"/>
              </a:rPr>
              <a:t>APROVADO COM RESSALVAS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84831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F5F8FC"/>
                </a:solidFill>
                <a:latin typeface="Aptos"/>
              </a:rPr>
              <a:t>para entrega acadêmica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52044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3520440"/>
            <a:ext cx="50292" cy="1828800"/>
          </a:xfrm>
          <a:prstGeom prst="rect">
            <a:avLst/>
          </a:prstGeom>
          <a:solidFill>
            <a:srgbClr val="497EFF"/>
          </a:solidFill>
          <a:ln>
            <a:solidFill>
              <a:srgbClr val="49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666744"/>
            <a:ext cx="48737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Base da conclusão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069080"/>
            <a:ext cx="4873752" cy="11704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4C9"/>
                </a:solidFill>
                <a:latin typeface="Aptos"/>
              </a:rPr>
              <a:t>Execução local de 20 casos, controles demonstrados e evidência adicional de LLM real.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520440"/>
            <a:ext cx="5440680" cy="1828800"/>
          </a:xfrm>
          <a:prstGeom prst="roundRect">
            <a:avLst>
              <a:gd name="adj" fmla="val 12000"/>
            </a:avLst>
          </a:prstGeom>
          <a:solidFill>
            <a:srgbClr val="131D30"/>
          </a:solidFill>
          <a:ln>
            <a:solidFill>
              <a:srgbClr val="13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3520440"/>
            <a:ext cx="50292" cy="1828800"/>
          </a:xfrm>
          <a:prstGeom prst="rect">
            <a:avLst/>
          </a:prstGeom>
          <a:solidFill>
            <a:srgbClr val="F6BE43"/>
          </a:solidFill>
          <a:ln>
            <a:solidFill>
              <a:srgbClr val="F6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3666744"/>
            <a:ext cx="5056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Ressalvas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4069080"/>
            <a:ext cx="5056632" cy="11704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6B4C9"/>
                </a:solidFill>
                <a:latin typeface="Aptos"/>
              </a:rPr>
              <a:t>Concluir avaliação humana 10×2 e medir custo/latência na API do modelo-alvo.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650992"/>
            <a:ext cx="10972800" cy="502920"/>
          </a:xfrm>
          <a:prstGeom prst="roundRect">
            <a:avLst>
              <a:gd name="adj" fmla="val 12000"/>
            </a:avLst>
          </a:prstGeom>
          <a:solidFill>
            <a:srgbClr val="19263D"/>
          </a:solidFill>
          <a:ln>
            <a:solidFill>
              <a:srgbClr val="19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751576"/>
            <a:ext cx="10515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A6B4C9"/>
                </a:solidFill>
                <a:latin typeface="Aptos"/>
              </a:rPr>
              <a:t>Produção exige: dados autorizados • segurança • governança • observabilidade • responsáveis • aprovação de negócio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7315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A6B4C9"/>
                </a:solidFill>
                <a:latin typeface="Aptos"/>
              </a:rPr>
              <a:t>AURORA TECH  •  TRABALHO 6  •  v1.0-final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6B4C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